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2" r:id="rId11"/>
    <p:sldId id="341" r:id="rId12"/>
    <p:sldId id="347" r:id="rId13"/>
    <p:sldId id="343" r:id="rId14"/>
    <p:sldId id="344" r:id="rId15"/>
    <p:sldId id="349" r:id="rId16"/>
    <p:sldId id="348" r:id="rId17"/>
    <p:sldId id="346" r:id="rId18"/>
    <p:sldId id="345" r:id="rId19"/>
    <p:sldId id="340"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Habeeb-khan-666/Healthcare_Analytics_for_Doctor_Visits_Predicting_Patient_Utilization.gi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Habeeb-khan-666/Healthcare_Analytics_for_Doctor_Visits_Predicting_Patient_Utilization.gi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Habeeb-khan-666/Healthcare_Analytics_for_Doctor_Visits_Predicting_Patient_Utilization.gi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Habeeb-khan-666/Healthcare_Analytics_for_Doctor_Visits_Predicting_Patient_Utilization.gi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Habeeb-khan-666/Healthcare_Analytics_for_Doctor_Visits_Predicting_Patient_Utilization.git"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Habeeb-khan-666/Healthcare_Analytics_for_Doctor_Visits_Predicting_Patient_Utilization.git"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Habeeb-khan-666/Healthcare_Analytics_for_Doctor_Visits_Predicting_Patient_Utilization.git"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45232" y="2742148"/>
            <a:ext cx="11056776" cy="965201"/>
          </a:xfrm>
        </p:spPr>
        <p:txBody>
          <a:bodyPr>
            <a:normAutofit fontScale="90000"/>
          </a:bodyPr>
          <a:lstStyle/>
          <a:p>
            <a:pPr algn="ctr"/>
            <a:r>
              <a:rPr lang="en-GB" sz="3200" b="1" dirty="0"/>
              <a:t>Project Title </a:t>
            </a:r>
            <a:r>
              <a:rPr lang="en-GB" sz="3200" dirty="0"/>
              <a:t>-</a:t>
            </a:r>
            <a:r>
              <a:rPr lang="en-IN" sz="3200" b="1" dirty="0"/>
              <a:t>Healthcare Analytics for Doctor Visits: Predicting Patient Utilization</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9EF6FA7E-8AD1-61D5-24D4-D6CE331DF085}"/>
              </a:ext>
            </a:extLst>
          </p:cNvPr>
          <p:cNvSpPr txBox="1"/>
          <p:nvPr/>
        </p:nvSpPr>
        <p:spPr>
          <a:xfrm>
            <a:off x="675957" y="4217753"/>
            <a:ext cx="8033657" cy="1754326"/>
          </a:xfrm>
          <a:prstGeom prst="rect">
            <a:avLst/>
          </a:prstGeom>
          <a:noFill/>
        </p:spPr>
        <p:txBody>
          <a:bodyPr wrap="square">
            <a:spAutoFit/>
          </a:bodyPr>
          <a:lstStyle/>
          <a:p>
            <a:pPr marL="0" algn="l" rtl="0" eaLnBrk="1" latinLnBrk="0" hangingPunct="1">
              <a:buNone/>
            </a:pPr>
            <a:r>
              <a:rPr lang="en-US" sz="1800" kern="1200" dirty="0">
                <a:solidFill>
                  <a:schemeClr val="tx1"/>
                </a:solidFill>
                <a:effectLst/>
                <a:latin typeface="+mn-lt"/>
                <a:ea typeface="+mn-ea"/>
                <a:cs typeface="+mn-cs"/>
              </a:rPr>
              <a:t>[</a:t>
            </a:r>
            <a:r>
              <a:rPr lang="en-US" sz="1800" b="1" kern="1200" dirty="0">
                <a:solidFill>
                  <a:schemeClr val="tx1"/>
                </a:solidFill>
                <a:effectLst/>
                <a:latin typeface="+mn-lt"/>
                <a:ea typeface="+mn-ea"/>
                <a:cs typeface="+mn-cs"/>
              </a:rPr>
              <a:t>Student Name- </a:t>
            </a:r>
            <a:r>
              <a:rPr lang="en-US" sz="1800" kern="1200" dirty="0">
                <a:solidFill>
                  <a:schemeClr val="tx1"/>
                </a:solidFill>
                <a:effectLst/>
                <a:latin typeface="+mn-lt"/>
                <a:ea typeface="+mn-ea"/>
                <a:cs typeface="+mn-cs"/>
              </a:rPr>
              <a:t>PATHAN HABEEB KHAN </a:t>
            </a:r>
          </a:p>
          <a:p>
            <a:pPr marL="0" algn="l" rtl="0" eaLnBrk="1" latinLnBrk="0" hangingPunct="1">
              <a:buNone/>
            </a:pPr>
            <a:endParaRPr lang="en-IN" dirty="0">
              <a:effectLst/>
            </a:endParaRPr>
          </a:p>
          <a:p>
            <a:pPr marL="0" algn="l" rtl="0" eaLnBrk="1" latinLnBrk="0" hangingPunct="1">
              <a:buNone/>
            </a:pPr>
            <a:r>
              <a:rPr lang="en-US" sz="1800" b="1" kern="1200" dirty="0">
                <a:solidFill>
                  <a:schemeClr val="tx1"/>
                </a:solidFill>
                <a:effectLst/>
                <a:latin typeface="+mn-lt"/>
                <a:ea typeface="+mn-ea"/>
                <a:cs typeface="+mn-cs"/>
              </a:rPr>
              <a:t>College Name- </a:t>
            </a:r>
            <a:r>
              <a:rPr lang="en-US" sz="1800" kern="1200" dirty="0">
                <a:solidFill>
                  <a:schemeClr val="tx1"/>
                </a:solidFill>
                <a:effectLst/>
                <a:latin typeface="+mn-lt"/>
                <a:ea typeface="+mn-ea"/>
                <a:cs typeface="+mn-cs"/>
              </a:rPr>
              <a:t>VIGNAN’S LARA INSTITUTE OF TECHNOLOGY &amp; SCIENCE ]</a:t>
            </a:r>
          </a:p>
          <a:p>
            <a:pPr marL="0" algn="l" rtl="0" eaLnBrk="1" latinLnBrk="0" hangingPunct="1">
              <a:buNone/>
            </a:pPr>
            <a:endParaRPr lang="en-US" dirty="0"/>
          </a:p>
          <a:p>
            <a:r>
              <a:rPr lang="en-US" b="1" dirty="0"/>
              <a:t>AICTE STU ID: </a:t>
            </a:r>
            <a:r>
              <a:rPr lang="en-IN" dirty="0"/>
              <a:t>STU67dc0645388db1742472773 </a:t>
            </a:r>
          </a:p>
          <a:p>
            <a:pPr marL="0" algn="l" rtl="0" eaLnBrk="1" latinLnBrk="0" hangingPunct="1">
              <a:buNone/>
            </a:pPr>
            <a:r>
              <a:rPr lang="en-US" sz="1800" kern="1200" dirty="0">
                <a:solidFill>
                  <a:schemeClr val="tx1"/>
                </a:solidFill>
                <a:effectLst/>
                <a:latin typeface="+mn-lt"/>
                <a:ea typeface="+mn-ea"/>
                <a:cs typeface="+mn-cs"/>
              </a:rPr>
              <a:t> </a:t>
            </a:r>
            <a:endParaRPr lang="en-IN" dirty="0">
              <a:effectLst/>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558212"/>
            <a:ext cx="7749585" cy="3925331"/>
          </a:xfrm>
        </p:spPr>
        <p:txBody>
          <a:bodyPr>
            <a:normAutofit/>
          </a:bodyPr>
          <a:lstStyle/>
          <a:p>
            <a:r>
              <a:rPr lang="en-IN" i="1" dirty="0"/>
              <a:t>Why do some people visit a doctor more often than others?"</a:t>
            </a:r>
          </a:p>
          <a:p>
            <a:pPr algn="just"/>
            <a:r>
              <a:rPr lang="en-IN" dirty="0"/>
              <a:t>In public and private healthcare systems, medical resource allocation, facility planning, and staffing rely heavily on understanding patient </a:t>
            </a:r>
            <a:r>
              <a:rPr lang="en-IN" dirty="0" err="1"/>
              <a:t>behaviors</a:t>
            </a:r>
            <a:r>
              <a:rPr lang="en-IN" dirty="0"/>
              <a:t>. By diagnosing the key drivers of physician visits—whether they stem from non-preventable demographic factors (like age and gender), socioeconomic baselines (such as family income), severe acute physical distress, or differences in systemic healthcare access—this project seeks to uncover actionable patterns that explain and predict patient demand.</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61820" y="193040"/>
            <a:ext cx="6276109" cy="830997"/>
          </a:xfrm>
        </p:spPr>
        <p:txBody>
          <a:bodyPr>
            <a:normAutofit fontScale="90000"/>
          </a:bodyPr>
          <a:lstStyle/>
          <a:p>
            <a:r>
              <a:rPr lang="en-GB" dirty="0"/>
              <a:t>Project Description</a:t>
            </a:r>
            <a:br>
              <a:rPr lang="en-GB" dirty="0"/>
            </a:br>
            <a:br>
              <a:rPr lang="en-GB" dirty="0"/>
            </a:br>
            <a:endParaRPr lang="en-IN" sz="11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F50808AD-0E15-3403-598A-9BCC2FE0E0F2}"/>
              </a:ext>
            </a:extLst>
          </p:cNvPr>
          <p:cNvSpPr txBox="1"/>
          <p:nvPr/>
        </p:nvSpPr>
        <p:spPr>
          <a:xfrm>
            <a:off x="727788" y="2136710"/>
            <a:ext cx="184731" cy="369332"/>
          </a:xfrm>
          <a:prstGeom prst="rect">
            <a:avLst/>
          </a:prstGeom>
          <a:noFill/>
        </p:spPr>
        <p:txBody>
          <a:bodyPr wrap="none" rtlCol="0">
            <a:spAutoFit/>
          </a:bodyPr>
          <a:lstStyle/>
          <a:p>
            <a:endParaRPr lang="en-IN"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5D09A3C-3B13-27B3-9319-A77B60F6FEB8}"/>
                  </a:ext>
                </a:extLst>
              </p:cNvPr>
              <p:cNvSpPr txBox="1"/>
              <p:nvPr/>
            </p:nvSpPr>
            <p:spPr>
              <a:xfrm>
                <a:off x="601313" y="1048929"/>
                <a:ext cx="9662360" cy="5638531"/>
              </a:xfrm>
              <a:prstGeom prst="rect">
                <a:avLst/>
              </a:prstGeom>
              <a:noFill/>
            </p:spPr>
            <p:txBody>
              <a:bodyPr wrap="square">
                <a:spAutoFit/>
              </a:bodyPr>
              <a:lstStyle/>
              <a:p>
                <a:pPr marL="0" marR="0" algn="just">
                  <a:buNone/>
                </a:pPr>
                <a:r>
                  <a:rPr lang="en-IN" dirty="0">
                    <a:effectLst/>
                    <a:latin typeface="+mn-lt"/>
                  </a:rPr>
                  <a:t>Healthcare facilities frequently struggle with unpredictable patient consultation volumes, leading to misaligned staffing schedules, resource bottlenecks, and prolonged patient wait times. To mitigate these operational challenges, this project investigates patient </a:t>
                </a:r>
                <a:r>
                  <a:rPr lang="en-IN" dirty="0" err="1">
                    <a:effectLst/>
                    <a:latin typeface="+mn-lt"/>
                  </a:rPr>
                  <a:t>behavior</a:t>
                </a:r>
                <a:r>
                  <a:rPr lang="en-IN" dirty="0">
                    <a:effectLst/>
                    <a:latin typeface="+mn-lt"/>
                  </a:rPr>
                  <a:t> across 12 analytical variables—including consultation count, gender, age, income, acute illness, activity impairment, and insurance coverage. </a:t>
                </a:r>
              </a:p>
              <a:p>
                <a:pPr marL="0" marR="0" algn="just">
                  <a:buNone/>
                </a:pPr>
                <a:endParaRPr lang="en-IN" dirty="0">
                  <a:effectLst/>
                  <a:latin typeface="+mn-lt"/>
                </a:endParaRPr>
              </a:p>
              <a:p>
                <a:pPr marL="0" marR="0" lvl="0" indent="-342900" algn="just">
                  <a:buFont typeface="Arial" panose="020B0604020202020204" pitchFamily="34" charset="0"/>
                  <a:buChar char="•"/>
                </a:pPr>
                <a:r>
                  <a:rPr lang="en-IN" b="1" dirty="0">
                    <a:effectLst/>
                    <a:latin typeface="+mn-lt"/>
                  </a:rPr>
                  <a:t>Exploratory Findings:</a:t>
                </a:r>
                <a:r>
                  <a:rPr lang="en-IN" dirty="0">
                    <a:effectLst/>
                    <a:latin typeface="+mn-lt"/>
                  </a:rPr>
                  <a:t> Female patients and older demographics demonstrate higher consultation rates. Functional impairment—measured by days of reduced activity (reduced)—and the number of concurrent illnesses (illness) serve as the strongest acute drivers of medical visits. Furthermore, patients supported by specialized government programs (</a:t>
                </a:r>
                <a:r>
                  <a:rPr lang="en-IN" dirty="0" err="1">
                    <a:effectLst/>
                    <a:latin typeface="+mn-lt"/>
                  </a:rPr>
                  <a:t>freerepat</a:t>
                </a:r>
                <a:r>
                  <a:rPr lang="en-IN" dirty="0">
                    <a:effectLst/>
                    <a:latin typeface="+mn-lt"/>
                  </a:rPr>
                  <a:t>) visit doctors considerably more often than non-assisted cohorts. </a:t>
                </a:r>
              </a:p>
              <a:p>
                <a:pPr marL="0" marR="0" lvl="0" indent="-342900" algn="just">
                  <a:buFont typeface="Arial" panose="020B0604020202020204" pitchFamily="34" charset="0"/>
                  <a:buChar char="•"/>
                </a:pPr>
                <a:r>
                  <a:rPr lang="en-IN" b="1" dirty="0">
                    <a:effectLst/>
                    <a:latin typeface="+mn-lt"/>
                  </a:rPr>
                  <a:t>Statistical Validation:</a:t>
                </a:r>
                <a:r>
                  <a:rPr lang="en-IN" dirty="0">
                    <a:effectLst/>
                    <a:latin typeface="+mn-lt"/>
                  </a:rPr>
                  <a:t> Independent two-sample </a:t>
                </a:r>
                <a14:m>
                  <m:oMath xmlns:m="http://schemas.openxmlformats.org/officeDocument/2006/math">
                    <m:r>
                      <a:rPr lang="en-IN" i="1" smtClean="0">
                        <a:latin typeface="+mn-lt"/>
                      </a:rPr>
                      <m:t>𝑡</m:t>
                    </m:r>
                  </m:oMath>
                </a14:m>
                <a:r>
                  <a:rPr lang="en-IN" dirty="0">
                    <a:effectLst/>
                    <a:latin typeface="+mn-lt"/>
                  </a:rPr>
                  <a:t>-tests confirm that gender differences in doctor visits are statistically significant (</a:t>
                </a:r>
                <a14:m>
                  <m:oMath xmlns:m="http://schemas.openxmlformats.org/officeDocument/2006/math">
                    <m:r>
                      <a:rPr lang="en-IN" i="1" smtClean="0">
                        <a:latin typeface="+mn-lt"/>
                      </a:rPr>
                      <m:t>𝑝</m:t>
                    </m:r>
                    <m:r>
                      <m:rPr>
                        <m:nor/>
                      </m:rPr>
                      <a:rPr lang="en-IN" i="0">
                        <a:latin typeface="+mn-lt"/>
                      </a:rPr>
                      <m:t>−value</m:t>
                    </m:r>
                    <m:r>
                      <a:rPr lang="en-IN" i="0">
                        <a:latin typeface="+mn-lt"/>
                      </a:rPr>
                      <m:t>=1.11×</m:t>
                    </m:r>
                    <m:sSup>
                      <m:sSupPr>
                        <m:ctrlPr>
                          <a:rPr lang="en-IN" i="0">
                            <a:latin typeface="+mn-lt"/>
                          </a:rPr>
                        </m:ctrlPr>
                      </m:sSupPr>
                      <m:e>
                        <m:r>
                          <a:rPr lang="en-IN" i="0">
                            <a:latin typeface="+mn-lt"/>
                          </a:rPr>
                          <m:t>10</m:t>
                        </m:r>
                      </m:e>
                      <m:sup>
                        <m:r>
                          <a:rPr lang="en-IN" i="0">
                            <a:latin typeface="+mn-lt"/>
                          </a:rPr>
                          <m:t>−8</m:t>
                        </m:r>
                      </m:sup>
                    </m:sSup>
                  </m:oMath>
                </a14:m>
                <a:r>
                  <a:rPr lang="en-IN" dirty="0">
                    <a:effectLst/>
                    <a:latin typeface="+mn-lt"/>
                  </a:rPr>
                  <a:t>), whereas holding private health insurance does not produce a statistically significant change in consultation frequency (</a:t>
                </a:r>
                <a14:m>
                  <m:oMath xmlns:m="http://schemas.openxmlformats.org/officeDocument/2006/math">
                    <m:r>
                      <a:rPr lang="en-IN" i="1" smtClean="0">
                        <a:latin typeface="+mn-lt"/>
                      </a:rPr>
                      <m:t>𝑝</m:t>
                    </m:r>
                    <m:r>
                      <m:rPr>
                        <m:nor/>
                      </m:rPr>
                      <a:rPr lang="en-IN" i="0">
                        <a:latin typeface="+mn-lt"/>
                      </a:rPr>
                      <m:t>−value</m:t>
                    </m:r>
                    <m:r>
                      <a:rPr lang="en-IN" i="0">
                        <a:latin typeface="+mn-lt"/>
                      </a:rPr>
                      <m:t>=0.56</m:t>
                    </m:r>
                  </m:oMath>
                </a14:m>
                <a:r>
                  <a:rPr lang="en-IN" dirty="0">
                    <a:effectLst/>
                    <a:latin typeface="+mn-lt"/>
                  </a:rPr>
                  <a:t>).</a:t>
                </a:r>
              </a:p>
              <a:p>
                <a:pPr marL="0" marR="0" lvl="0" indent="-342900" algn="just">
                  <a:buFont typeface="Arial" panose="020B0604020202020204" pitchFamily="34" charset="0"/>
                  <a:buChar char="•"/>
                </a:pPr>
                <a:r>
                  <a:rPr lang="en-IN" b="1" dirty="0">
                    <a:effectLst/>
                    <a:latin typeface="+mn-lt"/>
                  </a:rPr>
                  <a:t>Predictive </a:t>
                </a:r>
                <a:r>
                  <a:rPr lang="en-IN" b="1" dirty="0" err="1">
                    <a:effectLst/>
                    <a:latin typeface="+mn-lt"/>
                  </a:rPr>
                  <a:t>Modeling</a:t>
                </a:r>
                <a:r>
                  <a:rPr lang="en-IN" b="1" dirty="0">
                    <a:effectLst/>
                    <a:latin typeface="+mn-lt"/>
                  </a:rPr>
                  <a:t>:</a:t>
                </a:r>
                <a:r>
                  <a:rPr lang="en-IN" dirty="0">
                    <a:effectLst/>
                    <a:latin typeface="+mn-lt"/>
                  </a:rPr>
                  <a:t> Because approximately 80% of individuals in the dataset recorded zero visits, utilization was formulated as a binary classification target (visited: 0 vs. </a:t>
                </a:r>
                <a14:m>
                  <m:oMath xmlns:m="http://schemas.openxmlformats.org/officeDocument/2006/math">
                    <m:r>
                      <a:rPr lang="en-IN" smtClean="0">
                        <a:latin typeface="+mn-lt"/>
                      </a:rPr>
                      <m:t>≥</m:t>
                    </m:r>
                    <m:r>
                      <a:rPr lang="en-IN" i="0">
                        <a:latin typeface="+mn-lt"/>
                      </a:rPr>
                      <m:t>1</m:t>
                    </m:r>
                  </m:oMath>
                </a14:m>
                <a:r>
                  <a:rPr lang="en-IN" dirty="0">
                    <a:effectLst/>
                    <a:latin typeface="+mn-lt"/>
                  </a:rPr>
                  <a:t>). Logistic Regression attained 80.5% accuracy, while a Random Forest Classifier yielded 77.5% accuracy, identifying </a:t>
                </a:r>
                <a:r>
                  <a:rPr lang="en-IN" b="1" dirty="0">
                    <a:effectLst/>
                    <a:latin typeface="+mn-lt"/>
                  </a:rPr>
                  <a:t>Income</a:t>
                </a:r>
                <a:r>
                  <a:rPr lang="en-IN" dirty="0">
                    <a:effectLst/>
                    <a:latin typeface="+mn-lt"/>
                  </a:rPr>
                  <a:t>, </a:t>
                </a:r>
                <a:r>
                  <a:rPr lang="en-IN" b="1" dirty="0">
                    <a:effectLst/>
                    <a:latin typeface="+mn-lt"/>
                  </a:rPr>
                  <a:t>Age</a:t>
                </a:r>
                <a:r>
                  <a:rPr lang="en-IN" dirty="0">
                    <a:effectLst/>
                    <a:latin typeface="+mn-lt"/>
                  </a:rPr>
                  <a:t>, </a:t>
                </a:r>
                <a:r>
                  <a:rPr lang="en-IN" b="1" dirty="0">
                    <a:effectLst/>
                    <a:latin typeface="+mn-lt"/>
                  </a:rPr>
                  <a:t>Illness Count</a:t>
                </a:r>
                <a:r>
                  <a:rPr lang="en-IN" dirty="0">
                    <a:effectLst/>
                    <a:latin typeface="+mn-lt"/>
                  </a:rPr>
                  <a:t>, </a:t>
                </a:r>
                <a:r>
                  <a:rPr lang="en-IN" b="1" dirty="0">
                    <a:effectLst/>
                    <a:latin typeface="+mn-lt"/>
                  </a:rPr>
                  <a:t>Health Status</a:t>
                </a:r>
                <a:r>
                  <a:rPr lang="en-IN" dirty="0">
                    <a:effectLst/>
                    <a:latin typeface="+mn-lt"/>
                  </a:rPr>
                  <a:t>, and </a:t>
                </a:r>
                <a:r>
                  <a:rPr lang="en-IN" b="1" dirty="0">
                    <a:effectLst/>
                    <a:latin typeface="+mn-lt"/>
                  </a:rPr>
                  <a:t>Reduced Activity Days</a:t>
                </a:r>
                <a:r>
                  <a:rPr lang="en-IN" dirty="0">
                    <a:effectLst/>
                    <a:latin typeface="+mn-lt"/>
                  </a:rPr>
                  <a:t> as the five most critical features driving patient visits.</a:t>
                </a:r>
                <a:endParaRPr lang="en-IN" dirty="0">
                  <a:effectLst/>
                  <a:latin typeface="Google Sans Text"/>
                </a:endParaRPr>
              </a:p>
            </p:txBody>
          </p:sp>
        </mc:Choice>
        <mc:Fallback>
          <p:sp>
            <p:nvSpPr>
              <p:cNvPr id="7" name="TextBox 6">
                <a:extLst>
                  <a:ext uri="{FF2B5EF4-FFF2-40B4-BE49-F238E27FC236}">
                    <a16:creationId xmlns:a16="http://schemas.microsoft.com/office/drawing/2014/main" id="{D5D09A3C-3B13-27B3-9319-A77B60F6FEB8}"/>
                  </a:ext>
                </a:extLst>
              </p:cNvPr>
              <p:cNvSpPr txBox="1">
                <a:spLocks noRot="1" noChangeAspect="1" noMove="1" noResize="1" noEditPoints="1" noAdjustHandles="1" noChangeArrowheads="1" noChangeShapeType="1" noTextEdit="1"/>
              </p:cNvSpPr>
              <p:nvPr/>
            </p:nvSpPr>
            <p:spPr>
              <a:xfrm>
                <a:off x="601313" y="1048929"/>
                <a:ext cx="9662360" cy="5638531"/>
              </a:xfrm>
              <a:prstGeom prst="rect">
                <a:avLst/>
              </a:prstGeom>
              <a:blipFill>
                <a:blip r:embed="rId4"/>
                <a:stretch>
                  <a:fillRect l="-568" t="-649" r="-505" b="-541"/>
                </a:stretch>
              </a:blipFill>
            </p:spPr>
            <p:txBody>
              <a:bodyPr/>
              <a:lstStyle/>
              <a:p>
                <a:r>
                  <a:rPr lang="en-IN">
                    <a:noFill/>
                  </a:rPr>
                  <a:t> </a:t>
                </a:r>
              </a:p>
            </p:txBody>
          </p:sp>
        </mc:Fallback>
      </mc:AlternateContent>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lvl="0"/>
            <a:r>
              <a:rPr lang="en-IN" sz="3600" b="1" dirty="0"/>
              <a:t>Clinic Administrators &amp; Operations Managers:</a:t>
            </a:r>
            <a:r>
              <a:rPr lang="en-IN" sz="3600" dirty="0"/>
              <a:t> To dynamically align physician and nursing shift schedules with expected patient volume surges, especially during periods of widespread acute illness.</a:t>
            </a:r>
          </a:p>
          <a:p>
            <a:pPr lvl="0"/>
            <a:r>
              <a:rPr lang="en-IN" sz="3600" b="1" dirty="0"/>
              <a:t>Preventive Care Coordinators:</a:t>
            </a:r>
            <a:r>
              <a:rPr lang="en-IN" sz="3600" dirty="0"/>
              <a:t> To design targeted wellness check-ins, remote monitoring, and telemedicine consultations for elderly or chronically impaired patients, reducing emergency department crowding.</a:t>
            </a:r>
          </a:p>
          <a:p>
            <a:pPr lvl="0"/>
            <a:r>
              <a:rPr lang="en-IN" sz="3600" b="1" dirty="0"/>
              <a:t>Government &amp; Community Health Officials:</a:t>
            </a:r>
            <a:r>
              <a:rPr lang="en-IN" sz="3600" dirty="0"/>
              <a:t> To evaluate healthcare utilization patterns among state-assisted and low-income populations, ensuring medical resources and subsidies are distributed equitably.</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Programming Language:</a:t>
            </a:r>
            <a:r>
              <a:rPr lang="en-IN" dirty="0"/>
              <a:t> Python</a:t>
            </a:r>
          </a:p>
          <a:p>
            <a:pPr lvl="0"/>
            <a:r>
              <a:rPr lang="en-IN" b="1" dirty="0"/>
              <a:t>Data Manipulation &amp; Cleaning:</a:t>
            </a:r>
            <a:r>
              <a:rPr lang="en-IN" dirty="0"/>
              <a:t> Pandas, NumPy</a:t>
            </a:r>
          </a:p>
          <a:p>
            <a:pPr lvl="0"/>
            <a:r>
              <a:rPr lang="en-IN" b="1" dirty="0"/>
              <a:t>Statistical Hypothesis Testing:</a:t>
            </a:r>
            <a:r>
              <a:rPr lang="en-IN" dirty="0"/>
              <a:t> SciPy (</a:t>
            </a:r>
            <a:r>
              <a:rPr lang="en-IN" dirty="0" err="1"/>
              <a:t>scipy.stats.ttest_ind</a:t>
            </a:r>
            <a:r>
              <a:rPr lang="en-IN" dirty="0"/>
              <a:t>)</a:t>
            </a:r>
          </a:p>
          <a:p>
            <a:pPr lvl="0"/>
            <a:r>
              <a:rPr lang="en-IN" b="1" dirty="0"/>
              <a:t>Machine Learning &amp; Evaluation:</a:t>
            </a:r>
            <a:r>
              <a:rPr lang="en-IN" dirty="0"/>
              <a:t> Scikit-Learn (LogisticRegression, RandomForestClassifier, </a:t>
            </a:r>
            <a:r>
              <a:rPr lang="en-IN" dirty="0" err="1"/>
              <a:t>train_test_split</a:t>
            </a:r>
            <a:r>
              <a:rPr lang="en-IN" dirty="0"/>
              <a:t>, </a:t>
            </a:r>
            <a:r>
              <a:rPr lang="en-IN" dirty="0" err="1"/>
              <a:t>accuracy_score</a:t>
            </a:r>
            <a:r>
              <a:rPr lang="en-IN" dirty="0"/>
              <a:t>, </a:t>
            </a:r>
            <a:r>
              <a:rPr lang="en-IN" dirty="0" err="1"/>
              <a:t>precision_score</a:t>
            </a:r>
            <a:r>
              <a:rPr lang="en-IN" dirty="0"/>
              <a:t>, </a:t>
            </a:r>
            <a:r>
              <a:rPr lang="en-IN" dirty="0" err="1"/>
              <a:t>recall_score</a:t>
            </a:r>
            <a:r>
              <a:rPr lang="en-IN" dirty="0"/>
              <a:t>, </a:t>
            </a:r>
            <a:r>
              <a:rPr lang="en-IN" dirty="0" err="1"/>
              <a:t>classification_report</a:t>
            </a:r>
            <a:r>
              <a:rPr lang="en-IN" dirty="0"/>
              <a:t>)</a:t>
            </a:r>
          </a:p>
          <a:p>
            <a:pPr lvl="0"/>
            <a:r>
              <a:rPr lang="en-IN" b="1" dirty="0"/>
              <a:t>Data Visualization:</a:t>
            </a:r>
            <a:r>
              <a:rPr lang="en-IN" dirty="0"/>
              <a:t> Matplotlib, Seaborn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6" name="Picture 5">
            <a:extLst>
              <a:ext uri="{FF2B5EF4-FFF2-40B4-BE49-F238E27FC236}">
                <a16:creationId xmlns:a16="http://schemas.microsoft.com/office/drawing/2014/main" id="{F2A22968-27ED-1A9A-2768-5BBE0D9AC2B4}"/>
              </a:ext>
            </a:extLst>
          </p:cNvPr>
          <p:cNvPicPr>
            <a:picLocks noChangeAspect="1"/>
          </p:cNvPicPr>
          <p:nvPr/>
        </p:nvPicPr>
        <p:blipFill>
          <a:blip r:embed="rId3"/>
          <a:stretch>
            <a:fillRect/>
          </a:stretch>
        </p:blipFill>
        <p:spPr>
          <a:xfrm>
            <a:off x="938514" y="1378168"/>
            <a:ext cx="5921253" cy="454953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E7EE6-4D1F-A3D3-E4F9-DD8B27387C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FD074B-9EB0-09CA-7A62-B4FA6BF4D9A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B89501C-BE53-50C4-2FAD-3AA8A7238EE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C6DE99D-504F-67B5-8A3D-A08EC33F0BA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2B5939E-AD30-BC6C-9997-1B735D50241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6C9ED2CA-6C33-ADDB-289A-4DA64F78B024}"/>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9DD19734-59A2-02C4-1D88-0F06DA16B5BD}"/>
              </a:ext>
            </a:extLst>
          </p:cNvPr>
          <p:cNvPicPr>
            <a:picLocks noChangeAspect="1"/>
          </p:cNvPicPr>
          <p:nvPr/>
        </p:nvPicPr>
        <p:blipFill>
          <a:blip r:embed="rId3"/>
          <a:stretch>
            <a:fillRect/>
          </a:stretch>
        </p:blipFill>
        <p:spPr>
          <a:xfrm>
            <a:off x="749295" y="1634334"/>
            <a:ext cx="7856901" cy="3589331"/>
          </a:xfrm>
          <a:prstGeom prst="rect">
            <a:avLst/>
          </a:prstGeom>
        </p:spPr>
      </p:pic>
    </p:spTree>
    <p:extLst>
      <p:ext uri="{BB962C8B-B14F-4D97-AF65-F5344CB8AC3E}">
        <p14:creationId xmlns:p14="http://schemas.microsoft.com/office/powerpoint/2010/main" val="137916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8FBF6-4ED3-97DC-6E6F-639D64AB71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EAD8AA-DE67-39B9-F0FD-8224D553C58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99D844-98D8-47F5-E4CD-BEA0345E28F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35D59B0-4D5A-FA4B-04E5-DC374062CAA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AFC82A3-AD5E-6DA5-E771-1D2478B3937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638A92F5-73C7-B5E7-DF38-0DE5196497A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6" name="Picture 5">
            <a:extLst>
              <a:ext uri="{FF2B5EF4-FFF2-40B4-BE49-F238E27FC236}">
                <a16:creationId xmlns:a16="http://schemas.microsoft.com/office/drawing/2014/main" id="{E0FBB2B5-3C66-162A-2EA8-F3D899050084}"/>
              </a:ext>
            </a:extLst>
          </p:cNvPr>
          <p:cNvPicPr>
            <a:picLocks noChangeAspect="1"/>
          </p:cNvPicPr>
          <p:nvPr/>
        </p:nvPicPr>
        <p:blipFill>
          <a:blip r:embed="rId3"/>
          <a:stretch>
            <a:fillRect/>
          </a:stretch>
        </p:blipFill>
        <p:spPr>
          <a:xfrm>
            <a:off x="774125" y="1936063"/>
            <a:ext cx="9076207" cy="3337849"/>
          </a:xfrm>
          <a:prstGeom prst="rect">
            <a:avLst/>
          </a:prstGeom>
        </p:spPr>
      </p:pic>
      <p:sp>
        <p:nvSpPr>
          <p:cNvPr id="11" name="TextBox 10">
            <a:extLst>
              <a:ext uri="{FF2B5EF4-FFF2-40B4-BE49-F238E27FC236}">
                <a16:creationId xmlns:a16="http://schemas.microsoft.com/office/drawing/2014/main" id="{989E775E-03F8-2E39-0FC5-63D06A8B67AF}"/>
              </a:ext>
            </a:extLst>
          </p:cNvPr>
          <p:cNvSpPr txBox="1"/>
          <p:nvPr/>
        </p:nvSpPr>
        <p:spPr>
          <a:xfrm>
            <a:off x="422959" y="5942374"/>
            <a:ext cx="6102220" cy="369332"/>
          </a:xfrm>
          <a:prstGeom prst="rect">
            <a:avLst/>
          </a:prstGeom>
          <a:noFill/>
        </p:spPr>
        <p:txBody>
          <a:bodyPr wrap="square">
            <a:spAutoFit/>
          </a:bodyPr>
          <a:lstStyle/>
          <a:p>
            <a:pPr indent="0" algn="l">
              <a:buNone/>
            </a:pPr>
            <a:r>
              <a:rPr lang="en-IN" sz="1800" b="0" i="0" dirty="0">
                <a:solidFill>
                  <a:schemeClr val="tx1"/>
                </a:solidFill>
                <a:effectLst/>
                <a:latin typeface="+mn-lt"/>
                <a:hlinkClick r:id="rId4"/>
              </a:rPr>
              <a:t>demo link</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316460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AC990-A908-A3F4-EBA3-535E27AFC2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3958BF4-B70D-2A13-7B9E-1487DA5E435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4397B19-9BF5-0FA8-4E2A-7C2BCBE20DE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82BF9FD-D74A-CB99-77E7-226C9ADBABD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AA6EB61-AE59-691A-5C90-47DFED37B9E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F9829BDE-8434-E11F-EE61-F260AB13219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E827ACF8-2C31-3F24-CC02-13E72E5D1055}"/>
              </a:ext>
            </a:extLst>
          </p:cNvPr>
          <p:cNvPicPr>
            <a:picLocks noChangeAspect="1"/>
          </p:cNvPicPr>
          <p:nvPr/>
        </p:nvPicPr>
        <p:blipFill>
          <a:blip r:embed="rId3"/>
          <a:stretch>
            <a:fillRect/>
          </a:stretch>
        </p:blipFill>
        <p:spPr>
          <a:xfrm>
            <a:off x="1933755" y="1748644"/>
            <a:ext cx="4823878" cy="3360711"/>
          </a:xfrm>
          <a:prstGeom prst="rect">
            <a:avLst/>
          </a:prstGeom>
        </p:spPr>
      </p:pic>
      <p:sp>
        <p:nvSpPr>
          <p:cNvPr id="10" name="TextBox 9">
            <a:extLst>
              <a:ext uri="{FF2B5EF4-FFF2-40B4-BE49-F238E27FC236}">
                <a16:creationId xmlns:a16="http://schemas.microsoft.com/office/drawing/2014/main" id="{3E4311FE-62B9-861C-D916-B48CC70AA063}"/>
              </a:ext>
            </a:extLst>
          </p:cNvPr>
          <p:cNvSpPr txBox="1"/>
          <p:nvPr/>
        </p:nvSpPr>
        <p:spPr>
          <a:xfrm>
            <a:off x="655413" y="6118079"/>
            <a:ext cx="6102220" cy="369332"/>
          </a:xfrm>
          <a:prstGeom prst="rect">
            <a:avLst/>
          </a:prstGeom>
          <a:noFill/>
        </p:spPr>
        <p:txBody>
          <a:bodyPr wrap="square">
            <a:spAutoFit/>
          </a:bodyPr>
          <a:lstStyle/>
          <a:p>
            <a:pPr indent="0" algn="l">
              <a:buNone/>
            </a:pPr>
            <a:r>
              <a:rPr lang="en-IN" dirty="0">
                <a:hlinkClick r:id="rId4"/>
              </a:rPr>
              <a:t>d</a:t>
            </a:r>
            <a:r>
              <a:rPr lang="en-IN" sz="1800" b="0" i="0" dirty="0">
                <a:solidFill>
                  <a:schemeClr val="tx1"/>
                </a:solidFill>
                <a:effectLst/>
                <a:latin typeface="+mn-lt"/>
                <a:hlinkClick r:id="rId4"/>
              </a:rPr>
              <a:t>emo link</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267828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E44C8-4572-EAE2-85E6-9A1442FDE8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6DC895-0A30-0282-8619-57DDCD02D2E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03A2107-D1BA-C1DD-4A14-F651CEADDAC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F70963C-2C1B-DFD9-4AF6-D73787BB578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5CE023B-386A-86E7-4A9E-C1EC8730FAC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F6D21B1-CB21-87D3-9E41-92B5BF9C985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1863F8DB-2A91-5EAE-A02F-8AAB2EA34E68}"/>
              </a:ext>
            </a:extLst>
          </p:cNvPr>
          <p:cNvPicPr>
            <a:picLocks noChangeAspect="1"/>
          </p:cNvPicPr>
          <p:nvPr/>
        </p:nvPicPr>
        <p:blipFill>
          <a:blip r:embed="rId3"/>
          <a:stretch>
            <a:fillRect/>
          </a:stretch>
        </p:blipFill>
        <p:spPr>
          <a:xfrm>
            <a:off x="635797" y="1801989"/>
            <a:ext cx="10920406" cy="3254022"/>
          </a:xfrm>
          <a:prstGeom prst="rect">
            <a:avLst/>
          </a:prstGeom>
        </p:spPr>
      </p:pic>
      <p:sp>
        <p:nvSpPr>
          <p:cNvPr id="10" name="TextBox 9">
            <a:extLst>
              <a:ext uri="{FF2B5EF4-FFF2-40B4-BE49-F238E27FC236}">
                <a16:creationId xmlns:a16="http://schemas.microsoft.com/office/drawing/2014/main" id="{85B24A25-1D03-67AE-9EA6-D4090A47B799}"/>
              </a:ext>
            </a:extLst>
          </p:cNvPr>
          <p:cNvSpPr txBox="1"/>
          <p:nvPr/>
        </p:nvSpPr>
        <p:spPr>
          <a:xfrm>
            <a:off x="422959" y="5942374"/>
            <a:ext cx="6102220" cy="369332"/>
          </a:xfrm>
          <a:prstGeom prst="rect">
            <a:avLst/>
          </a:prstGeom>
          <a:noFill/>
        </p:spPr>
        <p:txBody>
          <a:bodyPr wrap="square">
            <a:spAutoFit/>
          </a:bodyPr>
          <a:lstStyle/>
          <a:p>
            <a:pPr indent="0" algn="l">
              <a:buNone/>
            </a:pPr>
            <a:r>
              <a:rPr lang="en-IN" sz="1800" b="0" i="0" dirty="0">
                <a:solidFill>
                  <a:schemeClr val="tx1"/>
                </a:solidFill>
                <a:effectLst/>
                <a:latin typeface="+mn-lt"/>
                <a:hlinkClick r:id="rId4"/>
              </a:rPr>
              <a:t>demo link</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193209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0F2D1-4C4D-A718-5C10-60A446581C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BFA444-CDEF-2B86-F1F0-4F864473A93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6CEE835-BF47-AEC9-F384-987DF98AA4D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0CEF257-3748-A840-04B0-BC8D8BAE31F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1E6C2A7-3DCE-3A3E-8CD6-1C53B1B6604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86B378E8-4AEE-9B15-5345-BC9F047AFF81}"/>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0F064595-201D-4B21-9E8B-584E24A13171}"/>
              </a:ext>
            </a:extLst>
          </p:cNvPr>
          <p:cNvPicPr>
            <a:picLocks noChangeAspect="1"/>
          </p:cNvPicPr>
          <p:nvPr/>
        </p:nvPicPr>
        <p:blipFill>
          <a:blip r:embed="rId3"/>
          <a:stretch>
            <a:fillRect/>
          </a:stretch>
        </p:blipFill>
        <p:spPr>
          <a:xfrm>
            <a:off x="675957" y="1752454"/>
            <a:ext cx="8900931" cy="3353091"/>
          </a:xfrm>
          <a:prstGeom prst="rect">
            <a:avLst/>
          </a:prstGeom>
        </p:spPr>
      </p:pic>
      <p:sp>
        <p:nvSpPr>
          <p:cNvPr id="10" name="TextBox 9">
            <a:extLst>
              <a:ext uri="{FF2B5EF4-FFF2-40B4-BE49-F238E27FC236}">
                <a16:creationId xmlns:a16="http://schemas.microsoft.com/office/drawing/2014/main" id="{A293D2D0-BF97-2B12-69F3-AECEE9929BC3}"/>
              </a:ext>
            </a:extLst>
          </p:cNvPr>
          <p:cNvSpPr txBox="1"/>
          <p:nvPr/>
        </p:nvSpPr>
        <p:spPr>
          <a:xfrm>
            <a:off x="422959" y="5942374"/>
            <a:ext cx="6102220" cy="369332"/>
          </a:xfrm>
          <a:prstGeom prst="rect">
            <a:avLst/>
          </a:prstGeom>
          <a:noFill/>
        </p:spPr>
        <p:txBody>
          <a:bodyPr wrap="square">
            <a:spAutoFit/>
          </a:bodyPr>
          <a:lstStyle/>
          <a:p>
            <a:pPr indent="0" algn="l">
              <a:buNone/>
            </a:pPr>
            <a:r>
              <a:rPr lang="en-IN" sz="1800" b="0" i="0" dirty="0">
                <a:solidFill>
                  <a:schemeClr val="tx1"/>
                </a:solidFill>
                <a:effectLst/>
                <a:latin typeface="+mn-lt"/>
                <a:hlinkClick r:id="rId4"/>
              </a:rPr>
              <a:t>demo link</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291341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130D-B365-8AA1-910C-E82C803E4F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FB8FB6-4181-598C-60E4-EC785C865BC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358E3-16A6-2848-076C-D63280F34FD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CDE36EC-FC1F-7529-80E8-26A143C0A3C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FABBE91-3C31-963B-0AF5-58D46D786D5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67AC6C06-005B-06FD-84A9-5E00217A5410}"/>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E15C2742-3D1A-6B96-DB07-8CAFD6C5D403}"/>
              </a:ext>
            </a:extLst>
          </p:cNvPr>
          <p:cNvPicPr>
            <a:picLocks noChangeAspect="1"/>
          </p:cNvPicPr>
          <p:nvPr/>
        </p:nvPicPr>
        <p:blipFill>
          <a:blip r:embed="rId3"/>
          <a:stretch>
            <a:fillRect/>
          </a:stretch>
        </p:blipFill>
        <p:spPr>
          <a:xfrm>
            <a:off x="2046374" y="1400835"/>
            <a:ext cx="5532599" cy="4877223"/>
          </a:xfrm>
          <a:prstGeom prst="rect">
            <a:avLst/>
          </a:prstGeom>
        </p:spPr>
      </p:pic>
      <p:sp>
        <p:nvSpPr>
          <p:cNvPr id="10" name="TextBox 9">
            <a:extLst>
              <a:ext uri="{FF2B5EF4-FFF2-40B4-BE49-F238E27FC236}">
                <a16:creationId xmlns:a16="http://schemas.microsoft.com/office/drawing/2014/main" id="{EDF34018-C53E-4630-1CA5-112FA39F904B}"/>
              </a:ext>
            </a:extLst>
          </p:cNvPr>
          <p:cNvSpPr txBox="1"/>
          <p:nvPr/>
        </p:nvSpPr>
        <p:spPr>
          <a:xfrm>
            <a:off x="422959" y="5942374"/>
            <a:ext cx="6102220" cy="369332"/>
          </a:xfrm>
          <a:prstGeom prst="rect">
            <a:avLst/>
          </a:prstGeom>
          <a:noFill/>
        </p:spPr>
        <p:txBody>
          <a:bodyPr wrap="square">
            <a:spAutoFit/>
          </a:bodyPr>
          <a:lstStyle/>
          <a:p>
            <a:pPr indent="0" algn="l">
              <a:buNone/>
            </a:pPr>
            <a:r>
              <a:rPr lang="en-IN" sz="1800" b="0" i="0" dirty="0">
                <a:solidFill>
                  <a:schemeClr val="tx1"/>
                </a:solidFill>
                <a:effectLst/>
                <a:latin typeface="+mn-lt"/>
                <a:hlinkClick r:id="rId4"/>
              </a:rPr>
              <a:t>demo link</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3176850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39001-1840-33EB-50B0-544457D7C0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A3CCBA-7AF4-9E8C-B707-CE5947491FB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9E9D72A-6877-211D-6DBF-200CFD6DC95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A7A5F82-F7F0-DA8D-749B-64AA43CF77A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9DBA48E-3A1A-33F5-C0E3-A3A56D51B6E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3FB7752-EFFA-D0F0-92C4-4C0D760F0855}"/>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36370D8F-BFDC-A8A4-DAE0-B8EDE0E2218F}"/>
              </a:ext>
            </a:extLst>
          </p:cNvPr>
          <p:cNvPicPr>
            <a:picLocks noChangeAspect="1"/>
          </p:cNvPicPr>
          <p:nvPr/>
        </p:nvPicPr>
        <p:blipFill>
          <a:blip r:embed="rId3"/>
          <a:stretch>
            <a:fillRect/>
          </a:stretch>
        </p:blipFill>
        <p:spPr>
          <a:xfrm>
            <a:off x="2631491" y="1488074"/>
            <a:ext cx="3010161" cy="3657917"/>
          </a:xfrm>
          <a:prstGeom prst="rect">
            <a:avLst/>
          </a:prstGeom>
        </p:spPr>
      </p:pic>
      <p:sp>
        <p:nvSpPr>
          <p:cNvPr id="10" name="TextBox 9">
            <a:extLst>
              <a:ext uri="{FF2B5EF4-FFF2-40B4-BE49-F238E27FC236}">
                <a16:creationId xmlns:a16="http://schemas.microsoft.com/office/drawing/2014/main" id="{07FB49A6-C9ED-4683-FCA4-1C92491D2946}"/>
              </a:ext>
            </a:extLst>
          </p:cNvPr>
          <p:cNvSpPr txBox="1"/>
          <p:nvPr/>
        </p:nvSpPr>
        <p:spPr>
          <a:xfrm>
            <a:off x="422959" y="5942374"/>
            <a:ext cx="6102220" cy="369332"/>
          </a:xfrm>
          <a:prstGeom prst="rect">
            <a:avLst/>
          </a:prstGeom>
          <a:noFill/>
        </p:spPr>
        <p:txBody>
          <a:bodyPr wrap="square">
            <a:spAutoFit/>
          </a:bodyPr>
          <a:lstStyle/>
          <a:p>
            <a:pPr indent="0" algn="l">
              <a:buNone/>
            </a:pPr>
            <a:r>
              <a:rPr lang="en-IN" sz="1800" b="0" i="0" dirty="0">
                <a:solidFill>
                  <a:schemeClr val="tx1"/>
                </a:solidFill>
                <a:effectLst/>
                <a:latin typeface="+mn-lt"/>
                <a:hlinkClick r:id="rId4"/>
              </a:rPr>
              <a:t>demo link</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350113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79ED-E69F-73BD-4564-A970CA903D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4A08DE-D8CC-7286-A608-16E1F1794A2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9E383C4-235A-D0F0-3F48-978120AB189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A338AC0-80BC-ACEE-7FB3-343E35B9A5D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B79E721-085C-B1A2-B7A1-96D32E35E5E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F4A15B41-3391-3128-F230-D3C3045E61F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C0FD397F-6140-4739-316B-4BE1F05F7294}"/>
              </a:ext>
            </a:extLst>
          </p:cNvPr>
          <p:cNvPicPr>
            <a:picLocks noChangeAspect="1"/>
          </p:cNvPicPr>
          <p:nvPr/>
        </p:nvPicPr>
        <p:blipFill>
          <a:blip r:embed="rId3"/>
          <a:stretch>
            <a:fillRect/>
          </a:stretch>
        </p:blipFill>
        <p:spPr>
          <a:xfrm>
            <a:off x="1646071" y="1721878"/>
            <a:ext cx="6043184" cy="3787468"/>
          </a:xfrm>
          <a:prstGeom prst="rect">
            <a:avLst/>
          </a:prstGeom>
        </p:spPr>
      </p:pic>
      <p:sp>
        <p:nvSpPr>
          <p:cNvPr id="10" name="TextBox 9">
            <a:extLst>
              <a:ext uri="{FF2B5EF4-FFF2-40B4-BE49-F238E27FC236}">
                <a16:creationId xmlns:a16="http://schemas.microsoft.com/office/drawing/2014/main" id="{ABDB628C-6767-31B8-B3CA-2A42417A1692}"/>
              </a:ext>
            </a:extLst>
          </p:cNvPr>
          <p:cNvSpPr txBox="1"/>
          <p:nvPr/>
        </p:nvSpPr>
        <p:spPr>
          <a:xfrm>
            <a:off x="422959" y="5942374"/>
            <a:ext cx="6102220" cy="369332"/>
          </a:xfrm>
          <a:prstGeom prst="rect">
            <a:avLst/>
          </a:prstGeom>
          <a:noFill/>
        </p:spPr>
        <p:txBody>
          <a:bodyPr wrap="square">
            <a:spAutoFit/>
          </a:bodyPr>
          <a:lstStyle/>
          <a:p>
            <a:pPr indent="0" algn="l">
              <a:buNone/>
            </a:pPr>
            <a:r>
              <a:rPr lang="en-IN" sz="1800" b="0" i="0" dirty="0">
                <a:solidFill>
                  <a:schemeClr val="tx1"/>
                </a:solidFill>
                <a:effectLst/>
                <a:latin typeface="+mn-lt"/>
                <a:hlinkClick r:id="rId4"/>
              </a:rPr>
              <a:t>demo link</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2271147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E854-E4B5-DFF1-E7E9-D921FC8F97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412209-198D-6DF6-4F88-EC532BDE4BF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2EEB5AD-4FAF-BC2A-3F5A-21397AA54EAC}"/>
              </a:ext>
            </a:extLst>
          </p:cNvPr>
          <p:cNvSpPr>
            <a:spLocks noGrp="1"/>
          </p:cNvSpPr>
          <p:nvPr>
            <p:ph type="title"/>
          </p:nvPr>
        </p:nvSpPr>
        <p:spPr>
          <a:xfrm>
            <a:off x="675957" y="370589"/>
            <a:ext cx="3774745" cy="830997"/>
          </a:xfrm>
        </p:spPr>
        <p:txBody>
          <a:bodyPr>
            <a:normAutofit/>
          </a:bodyPr>
          <a:lstStyle/>
          <a:p>
            <a:r>
              <a:rPr lang="en-IN" dirty="0"/>
              <a:t>GitHub Link</a:t>
            </a:r>
          </a:p>
        </p:txBody>
      </p:sp>
      <p:sp>
        <p:nvSpPr>
          <p:cNvPr id="7" name="Text Placeholder 30">
            <a:extLst>
              <a:ext uri="{FF2B5EF4-FFF2-40B4-BE49-F238E27FC236}">
                <a16:creationId xmlns:a16="http://schemas.microsoft.com/office/drawing/2014/main" id="{E733DE15-BA5F-DFE4-1BB2-B01AF53C20F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6D112DD-F74B-C459-F63C-ECC7FC9E159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DB1A299-4592-1F6A-0DDB-F13BC449107D}"/>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Box 9">
            <a:extLst>
              <a:ext uri="{FF2B5EF4-FFF2-40B4-BE49-F238E27FC236}">
                <a16:creationId xmlns:a16="http://schemas.microsoft.com/office/drawing/2014/main" id="{0EC9A0FB-B802-86E1-E39A-D3F6C5427DF2}"/>
              </a:ext>
            </a:extLst>
          </p:cNvPr>
          <p:cNvSpPr txBox="1"/>
          <p:nvPr/>
        </p:nvSpPr>
        <p:spPr>
          <a:xfrm>
            <a:off x="550507" y="2556588"/>
            <a:ext cx="9339942" cy="646331"/>
          </a:xfrm>
          <a:prstGeom prst="rect">
            <a:avLst/>
          </a:prstGeom>
          <a:noFill/>
        </p:spPr>
        <p:txBody>
          <a:bodyPr wrap="square">
            <a:spAutoFit/>
          </a:bodyPr>
          <a:lstStyle/>
          <a:p>
            <a:pPr indent="0" algn="l">
              <a:buNone/>
            </a:pPr>
            <a:r>
              <a:rPr lang="en-IN" sz="1800" b="0" i="0" dirty="0">
                <a:solidFill>
                  <a:schemeClr val="tx1"/>
                </a:solidFill>
                <a:effectLst/>
                <a:latin typeface="+mn-lt"/>
              </a:rPr>
              <a:t>https://github.com/Habeebkhan666/Healthcare_Analytics_for_Doctor_Visits_Predicting_Patient_Utilization.git</a:t>
            </a:r>
            <a:endParaRPr lang="en-IN" sz="1050" b="0" i="0" dirty="0">
              <a:solidFill>
                <a:srgbClr val="F0F6FC"/>
              </a:solidFill>
              <a:effectLst/>
              <a:latin typeface="Monaspace Neon"/>
            </a:endParaRPr>
          </a:p>
        </p:txBody>
      </p:sp>
    </p:spTree>
    <p:extLst>
      <p:ext uri="{BB962C8B-B14F-4D97-AF65-F5344CB8AC3E}">
        <p14:creationId xmlns:p14="http://schemas.microsoft.com/office/powerpoint/2010/main" val="390085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8FF8ED-5880-B8F9-EE85-B854C8A9003C}"/>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4" name="TextBox 3">
            <a:extLst>
              <a:ext uri="{FF2B5EF4-FFF2-40B4-BE49-F238E27FC236}">
                <a16:creationId xmlns:a16="http://schemas.microsoft.com/office/drawing/2014/main" id="{9EC1037D-3693-FCFB-3A8A-42BED8E3FAF4}"/>
              </a:ext>
            </a:extLst>
          </p:cNvPr>
          <p:cNvSpPr txBox="1"/>
          <p:nvPr/>
        </p:nvSpPr>
        <p:spPr>
          <a:xfrm>
            <a:off x="438539" y="73586"/>
            <a:ext cx="7128588" cy="1077218"/>
          </a:xfrm>
          <a:prstGeom prst="rect">
            <a:avLst/>
          </a:prstGeom>
          <a:noFill/>
        </p:spPr>
        <p:txBody>
          <a:bodyPr wrap="square">
            <a:spAutoFit/>
          </a:bodyPr>
          <a:lstStyle/>
          <a:p>
            <a:r>
              <a:rPr lang="en-IN" sz="3200" dirty="0"/>
              <a:t>VOIS Course completion certificate - </a:t>
            </a:r>
            <a:br>
              <a:rPr lang="en-IN" sz="3200" dirty="0"/>
            </a:br>
            <a:r>
              <a:rPr lang="en-IN" sz="3200" dirty="0"/>
              <a:t>Course name- Data Visualization </a:t>
            </a:r>
            <a:endParaRPr lang="en-IN" dirty="0"/>
          </a:p>
        </p:txBody>
      </p:sp>
      <p:pic>
        <p:nvPicPr>
          <p:cNvPr id="6" name="Picture 5">
            <a:extLst>
              <a:ext uri="{FF2B5EF4-FFF2-40B4-BE49-F238E27FC236}">
                <a16:creationId xmlns:a16="http://schemas.microsoft.com/office/drawing/2014/main" id="{F8FC7500-ED82-BA80-E0E2-B92EF4F800CB}"/>
              </a:ext>
            </a:extLst>
          </p:cNvPr>
          <p:cNvPicPr>
            <a:picLocks noChangeAspect="1"/>
          </p:cNvPicPr>
          <p:nvPr/>
        </p:nvPicPr>
        <p:blipFill>
          <a:blip r:embed="rId2"/>
          <a:stretch>
            <a:fillRect/>
          </a:stretch>
        </p:blipFill>
        <p:spPr>
          <a:xfrm>
            <a:off x="716496" y="1624585"/>
            <a:ext cx="7295720" cy="5159829"/>
          </a:xfrm>
          <a:prstGeom prst="rect">
            <a:avLst/>
          </a:prstGeom>
        </p:spPr>
      </p:pic>
    </p:spTree>
    <p:extLst>
      <p:ext uri="{BB962C8B-B14F-4D97-AF65-F5344CB8AC3E}">
        <p14:creationId xmlns:p14="http://schemas.microsoft.com/office/powerpoint/2010/main" val="1006896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598</TotalTime>
  <Words>611</Words>
  <Application>Microsoft Office PowerPoint</Application>
  <PresentationFormat>Widescreen</PresentationFormat>
  <Paragraphs>60</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Google Sans Text</vt:lpstr>
      <vt:lpstr>Monaspace Neon</vt:lpstr>
      <vt:lpstr>Trebuchet MS</vt:lpstr>
      <vt:lpstr>Wingdings</vt:lpstr>
      <vt:lpstr>Wingdings 3</vt:lpstr>
      <vt:lpstr>Facet</vt:lpstr>
      <vt:lpstr>Project Title -Healthcare Analytics for Doctor Visits: Predicting Patient Utilization</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GitHub Link</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PATHAN HABEEB KHAN</cp:lastModifiedBy>
  <cp:revision>74</cp:revision>
  <dcterms:created xsi:type="dcterms:W3CDTF">2021-07-11T13:13:15Z</dcterms:created>
  <dcterms:modified xsi:type="dcterms:W3CDTF">2026-10-04T13:05:16Z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